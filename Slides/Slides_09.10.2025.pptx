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62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70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DD5D54-CE7B-4A69-9D25-FC42412A545F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3EEDB2-3576-468C-AB7E-39D5D47B5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02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F3A4A-89E2-7D3B-C560-31716872C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86FBB-0F3F-2CCF-0235-3309C8B2E8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CE3C8-644F-0AB9-97F2-20E736012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4FE2C-F329-4263-AE16-6E0788AF1F7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5FB2D-2724-1C4E-0C02-FF716A814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9C738-8B3C-A76D-CA53-15853AD0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28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B99F8-249B-70D0-1D53-1C01BDB4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9D58A-B0A7-9652-3D33-2ADABE618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B758-D391-3FC4-B03E-081D79763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C2ABD-274F-42EB-9C84-BD06F721D669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FFE0A-D4FF-5A67-4DAE-7A0B5203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225BD-9749-FD72-75BF-AC45B6FD5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903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5FE8D-31B8-783B-BD2F-ECBBF13EA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E3756B-6212-0586-EE2E-742F6EBCBC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D2442-25C1-B243-DF4E-5948A9386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ED107-E288-4CBF-882F-03EA07192B90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5B4F6-F44D-7180-FE68-62FD3512E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1A70EC-23E1-2B72-0E29-79B5FF7FF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6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B8A0B-4DB9-5929-98BE-98EA2A1A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31DE-4FBE-5FCA-C4F8-C8C3B14A08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37D26-EEC7-1EC7-CF90-BEBE38DFF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01D25E-2B88-1117-692D-BD0A27C0F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BCC9B6-4860-4DDE-AB9F-10D72940FEC7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C878F-CE2E-AE34-2B3C-36C5B7AEF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B73104-89C9-8FFE-7EC9-AED81876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944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F42E6-729B-2A29-B3AD-3A8CF5D69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76A23-6158-A54E-1376-E46CAC3B5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C0B5CD-9534-738F-6044-E5B5D098A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DDA0A5-8EDB-9D69-FA2F-22C7618E94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F84113-7507-0743-3312-0F8B1C2BC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8F8427-2CC4-1B59-765D-A586DE8D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D5BCB-CC70-47FD-B441-EFB70B3D0E95}" type="datetime1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7E8939-D3F0-2B8C-5F94-2810D9F89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2EE9C0-7A49-B288-DDEF-477003DA6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4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702A6-59B8-23D8-2CE1-8C118BFEF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B91851-02CA-E060-FAF1-1A0B81875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7663-EEB9-4E1B-9FAA-7DD096E29C46}" type="datetime1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8BD100-D46C-EB99-122C-AC8DA4FA6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0A4456-459A-8E0D-1730-09B6666C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54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84538-29AF-5E29-9C53-627C35660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2BDF6-1CCE-4A8D-B758-E28D1CA246F9}" type="datetime1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4A885F-DE10-1AB4-CF16-734FA3173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66B9E-6050-2ECB-9B19-15566E6F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32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4C2A-5BCE-60E8-3990-BCEF4871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6503E-0D48-ADF5-4992-AC339DB57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F5103F-92E0-1ED8-5F84-4564CAE7F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D47629-707A-5A94-CC01-416555768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2E365-7470-464A-8369-C7FCE7CE6DB1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2AB45-00D9-8397-CDB2-A127CE86F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8BB3B-A1C8-A9BA-2AE9-3437C308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019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5FA7A-1AC8-F98F-5405-8D9C13985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6E536-3503-CB6E-119E-6B1DAE92F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B6B81-FEE2-C248-C6A4-AAB8922CC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49307D-07E5-E07C-E3AA-134342064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98DE9-2D8D-46CF-A159-A4E17CFF755B}" type="datetime1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92DD1-8BE3-C745-780C-81D70B2D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3EE049-6859-5F61-B067-037A0EBC1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77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BCF6-69F4-A762-D0FA-EE66C13EB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AD4DFE-6E45-3D88-7F88-7FB0618B78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7C37D-7B43-6AA1-9683-0630B2A8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6E748-97C8-4B26-A1D7-05D698BEF1BC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B75A1-ACDD-7500-8ED5-4DB58B956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49A12-555A-B083-8442-394BE27A1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4905F7-6054-C812-7E1F-D17016844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FD1D5D-6CD3-E7DB-AB2C-85B72691C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AF6B-D717-E762-0166-2DEEE0874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E6064-09C0-48DA-AC1E-F31F2AC8E5A0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C77A75-F77C-7F7B-298A-CB72449C5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64FBF-EC5A-4CE8-EE06-B97537757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8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8516E3-12CD-0C90-F785-1CBDAFFBE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943CD-9E82-DF1F-96E4-43FDE0E58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02E54-0043-6A54-A385-C79A4F19FF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E1BEF5-42AD-40FF-BCD0-69C68157891D}" type="datetime1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E13B5-064E-D10B-FEFC-04F227D043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EE0289-15C6-2EA0-2D83-1EE34E47E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B9EAB3-E735-45ED-B36E-99701FA130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220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7B24AE-7E79-A915-1ECE-2B708C64E97E}"/>
              </a:ext>
            </a:extLst>
          </p:cNvPr>
          <p:cNvSpPr txBox="1"/>
          <p:nvPr/>
        </p:nvSpPr>
        <p:spPr>
          <a:xfrm>
            <a:off x="225358" y="1285437"/>
            <a:ext cx="11040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Possible Case Studies</a:t>
            </a:r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21F841-AA57-8E37-7ADA-35EE5EA6E76F}"/>
              </a:ext>
            </a:extLst>
          </p:cNvPr>
          <p:cNvSpPr txBox="1"/>
          <p:nvPr/>
        </p:nvSpPr>
        <p:spPr>
          <a:xfrm>
            <a:off x="575553" y="1944538"/>
            <a:ext cx="110408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Related to chemical engineering industry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D6ECB8-FFB9-A828-06F0-7037890C75AF}"/>
              </a:ext>
            </a:extLst>
          </p:cNvPr>
          <p:cNvSpPr txBox="1"/>
          <p:nvPr/>
        </p:nvSpPr>
        <p:spPr>
          <a:xfrm>
            <a:off x="536641" y="2625697"/>
            <a:ext cx="7169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 level </a:t>
            </a:r>
          </a:p>
          <a:p>
            <a:pPr lvl="2"/>
            <a:r>
              <a:rPr lang="en-US" dirty="0"/>
              <a:t>Observe: price and volume demand of a product</a:t>
            </a:r>
          </a:p>
          <a:p>
            <a:pPr lvl="2"/>
            <a:r>
              <a:rPr lang="en-US" dirty="0"/>
              <a:t>Output: generate setpoints for production rate of the product</a:t>
            </a:r>
          </a:p>
          <a:p>
            <a:pPr lvl="2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9CAE68-2163-EC71-5974-08205268B99B}"/>
              </a:ext>
            </a:extLst>
          </p:cNvPr>
          <p:cNvSpPr txBox="1"/>
          <p:nvPr/>
        </p:nvSpPr>
        <p:spPr>
          <a:xfrm>
            <a:off x="575553" y="3572470"/>
            <a:ext cx="75194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 level</a:t>
            </a:r>
          </a:p>
          <a:p>
            <a:pPr lvl="2"/>
            <a:r>
              <a:rPr lang="en-US" dirty="0"/>
              <a:t>Receive: order from High level and current states</a:t>
            </a:r>
          </a:p>
          <a:p>
            <a:pPr lvl="2"/>
            <a:r>
              <a:rPr lang="en-US" dirty="0"/>
              <a:t>Output: adjust operation condition to meet the order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BC2191-9612-EB18-F009-C5470184EB0C}"/>
              </a:ext>
            </a:extLst>
          </p:cNvPr>
          <p:cNvSpPr/>
          <p:nvPr/>
        </p:nvSpPr>
        <p:spPr>
          <a:xfrm>
            <a:off x="831391" y="2625697"/>
            <a:ext cx="45719" cy="187010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583A79-CB44-13A0-5FA3-E753F22396CE}"/>
              </a:ext>
            </a:extLst>
          </p:cNvPr>
          <p:cNvSpPr/>
          <p:nvPr/>
        </p:nvSpPr>
        <p:spPr>
          <a:xfrm>
            <a:off x="808531" y="2562860"/>
            <a:ext cx="45719" cy="2098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1DEDBB-4132-7A8A-8A93-A80710DA970F}"/>
              </a:ext>
            </a:extLst>
          </p:cNvPr>
          <p:cNvSpPr txBox="1"/>
          <p:nvPr/>
        </p:nvSpPr>
        <p:spPr>
          <a:xfrm>
            <a:off x="225358" y="4780283"/>
            <a:ext cx="1040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dirty="0"/>
              <a:t>Challenges: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BDC3B1-FCE9-6B04-5F55-9CC8BE20740A}"/>
              </a:ext>
            </a:extLst>
          </p:cNvPr>
          <p:cNvSpPr txBox="1"/>
          <p:nvPr/>
        </p:nvSpPr>
        <p:spPr>
          <a:xfrm>
            <a:off x="660510" y="5145230"/>
            <a:ext cx="751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Finding a multiproduct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C3A564D-7F03-561D-D620-209B2E637016}"/>
              </a:ext>
            </a:extLst>
          </p:cNvPr>
          <p:cNvSpPr/>
          <p:nvPr/>
        </p:nvSpPr>
        <p:spPr>
          <a:xfrm>
            <a:off x="831391" y="4767513"/>
            <a:ext cx="45719" cy="896316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E984C7-CF1C-C150-A8B5-F8BFBC4C2B53}"/>
              </a:ext>
            </a:extLst>
          </p:cNvPr>
          <p:cNvSpPr/>
          <p:nvPr/>
        </p:nvSpPr>
        <p:spPr>
          <a:xfrm>
            <a:off x="808531" y="4724373"/>
            <a:ext cx="45719" cy="10058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B26F4EF-F684-3352-5005-13C64B0FA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444" y="538997"/>
            <a:ext cx="2785186" cy="306371"/>
          </a:xfrm>
          <a:prstGeom prst="rect">
            <a:avLst/>
          </a:prstGeom>
        </p:spPr>
      </p:pic>
      <p:pic>
        <p:nvPicPr>
          <p:cNvPr id="18" name="Picture 17" descr="A screenshot of a phone&#10;&#10;AI-generated content may be incorrect.">
            <a:extLst>
              <a:ext uri="{FF2B5EF4-FFF2-40B4-BE49-F238E27FC236}">
                <a16:creationId xmlns:a16="http://schemas.microsoft.com/office/drawing/2014/main" id="{6FCCEC49-5229-8877-0901-EAD97037B3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9307" y="128720"/>
            <a:ext cx="3531516" cy="6592755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E9EDD21-2B7C-B77F-34DD-C29F9350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56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21E6A-B478-F99B-7830-A76BBF621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D252501-E5BA-86EF-DC01-BE1A30CE6E69}"/>
              </a:ext>
            </a:extLst>
          </p:cNvPr>
          <p:cNvSpPr txBox="1"/>
          <p:nvPr/>
        </p:nvSpPr>
        <p:spPr>
          <a:xfrm>
            <a:off x="8637079" y="2554092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(adopted from [Medina-Herrera et al., 2017])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EF83D9-6BDA-5B49-4216-360730D11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9700" y="186728"/>
            <a:ext cx="2094100" cy="23471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92F61B1-610C-FF51-CF72-818FA681829A}"/>
              </a:ext>
            </a:extLst>
          </p:cNvPr>
          <p:cNvSpPr txBox="1"/>
          <p:nvPr/>
        </p:nvSpPr>
        <p:spPr>
          <a:xfrm>
            <a:off x="101600" y="349710"/>
            <a:ext cx="751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dirty="0"/>
              <a:t>Multi-product Reactive Distillation system for silanes production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8ECB96-06D0-E52D-9B82-6C231A476329}"/>
              </a:ext>
            </a:extLst>
          </p:cNvPr>
          <p:cNvSpPr txBox="1"/>
          <p:nvPr/>
        </p:nvSpPr>
        <p:spPr>
          <a:xfrm>
            <a:off x="599440" y="854073"/>
            <a:ext cx="75194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Three product: Silane, </a:t>
            </a:r>
            <a:r>
              <a:rPr lang="en-US" dirty="0" err="1"/>
              <a:t>Monochlorosilane</a:t>
            </a:r>
            <a:r>
              <a:rPr lang="en-US" dirty="0"/>
              <a:t>, </a:t>
            </a:r>
            <a:r>
              <a:rPr lang="en-US" dirty="0" err="1"/>
              <a:t>Dichlorosilane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simulated in Aspen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Optimized operational condition for each product is known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9D31D6B-E207-1275-DE6B-8147B061D704}"/>
              </a:ext>
            </a:extLst>
          </p:cNvPr>
          <p:cNvSpPr txBox="1"/>
          <p:nvPr/>
        </p:nvSpPr>
        <p:spPr>
          <a:xfrm>
            <a:off x="264160" y="1892114"/>
            <a:ext cx="751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Challenges: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92F3EE-B4CB-7A2F-A929-6E3DF47A7899}"/>
              </a:ext>
            </a:extLst>
          </p:cNvPr>
          <p:cNvSpPr txBox="1"/>
          <p:nvPr/>
        </p:nvSpPr>
        <p:spPr>
          <a:xfrm>
            <a:off x="599440" y="2258254"/>
            <a:ext cx="75194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Market data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32F0BFD-3380-FAFE-74EB-197D53C57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160" y="2899059"/>
            <a:ext cx="9932353" cy="3958941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6A3F98A-BBE3-498A-A994-7D101768202B}"/>
              </a:ext>
            </a:extLst>
          </p:cNvPr>
          <p:cNvSpPr/>
          <p:nvPr/>
        </p:nvSpPr>
        <p:spPr>
          <a:xfrm>
            <a:off x="264160" y="3220720"/>
            <a:ext cx="8910320" cy="2286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70A607F-F075-CAF0-0484-509DAEA5EC29}"/>
              </a:ext>
            </a:extLst>
          </p:cNvPr>
          <p:cNvSpPr/>
          <p:nvPr/>
        </p:nvSpPr>
        <p:spPr>
          <a:xfrm>
            <a:off x="264160" y="6670040"/>
            <a:ext cx="8910320" cy="22860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50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A5D0F-190A-4887-A5B2-2248AB3B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A823F47-3D05-B211-AAF4-CE788BBE16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141" y="1315432"/>
            <a:ext cx="4627659" cy="42271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8CCF59-1D43-CDEC-6F79-6A29DD267E69}"/>
              </a:ext>
            </a:extLst>
          </p:cNvPr>
          <p:cNvSpPr txBox="1"/>
          <p:nvPr/>
        </p:nvSpPr>
        <p:spPr>
          <a:xfrm>
            <a:off x="8376920" y="5542568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(adopted from [Chena et al., 2025])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D3F26-1EB8-ED3D-B5A2-50E5ABE6726C}"/>
              </a:ext>
            </a:extLst>
          </p:cNvPr>
          <p:cNvSpPr txBox="1"/>
          <p:nvPr/>
        </p:nvSpPr>
        <p:spPr>
          <a:xfrm>
            <a:off x="675640" y="2280136"/>
            <a:ext cx="79349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Core idea: large-scale storage are price-makers NOT price-takers</a:t>
            </a:r>
          </a:p>
          <a:p>
            <a:r>
              <a:rPr lang="en-US" dirty="0"/>
              <a:t>Actions affects the market balance.</a:t>
            </a:r>
          </a:p>
          <a:p>
            <a:endParaRPr lang="en-US" dirty="0"/>
          </a:p>
          <a:p>
            <a:r>
              <a:rPr lang="en-US" dirty="0"/>
              <a:t>Dataset is available: Open-source developed by the National </a:t>
            </a:r>
          </a:p>
          <a:p>
            <a:r>
              <a:rPr lang="en-US" dirty="0"/>
              <a:t>Renewable Energy Laboratory </a:t>
            </a:r>
          </a:p>
          <a:p>
            <a:endParaRPr lang="en-US" dirty="0"/>
          </a:p>
          <a:p>
            <a:r>
              <a:rPr lang="en-US" dirty="0"/>
              <a:t>Challenges: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Repository is not available.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Takes time to familiarize with the system.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D98B9F-7F5C-33AA-D2A1-AA355E1412A6}"/>
              </a:ext>
            </a:extLst>
          </p:cNvPr>
          <p:cNvSpPr txBox="1"/>
          <p:nvPr/>
        </p:nvSpPr>
        <p:spPr>
          <a:xfrm>
            <a:off x="441960" y="1161544"/>
            <a:ext cx="7934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Multiscale Optimization of Wind and Battery Integrated Energy Systems</a:t>
            </a:r>
          </a:p>
        </p:txBody>
      </p:sp>
    </p:spTree>
    <p:extLst>
      <p:ext uri="{BB962C8B-B14F-4D97-AF65-F5344CB8AC3E}">
        <p14:creationId xmlns:p14="http://schemas.microsoft.com/office/powerpoint/2010/main" val="11804421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E1873-D8AB-7C41-8698-E6E96EAD8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5C0F4C1-54C2-7E4F-0F3B-115CB8CAAE02}"/>
              </a:ext>
            </a:extLst>
          </p:cNvPr>
          <p:cNvSpPr txBox="1"/>
          <p:nvPr/>
        </p:nvSpPr>
        <p:spPr>
          <a:xfrm>
            <a:off x="611111" y="374342"/>
            <a:ext cx="758757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 fontAlgn="base" hangingPunct="0"/>
            <a:r>
              <a:rPr lang="en-US" sz="2000" b="1" dirty="0"/>
              <a:t>Progress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281C9-1840-EBAE-6814-A36D1CB72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9EAB3-E735-45ED-B36E-99701FA130EB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5376D-6A07-92BF-A8C6-B017B9C216AF}"/>
              </a:ext>
            </a:extLst>
          </p:cNvPr>
          <p:cNvSpPr txBox="1"/>
          <p:nvPr/>
        </p:nvSpPr>
        <p:spPr>
          <a:xfrm>
            <a:off x="895591" y="821382"/>
            <a:ext cx="75875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buFont typeface="Wingdings" panose="05000000000000000000" pitchFamily="2" charset="2"/>
              <a:buChar char="ü"/>
            </a:pPr>
            <a:r>
              <a:rPr lang="en-US" dirty="0"/>
              <a:t>Online-training</a:t>
            </a:r>
          </a:p>
          <a:p>
            <a:pPr marL="285750" indent="-285750" eaLnBrk="0" fontAlgn="base" hangingPunct="0">
              <a:buFont typeface="Wingdings" panose="05000000000000000000" pitchFamily="2" charset="2"/>
              <a:buChar char="ü"/>
            </a:pPr>
            <a:r>
              <a:rPr lang="en-US" dirty="0"/>
              <a:t>Tracking error as input</a:t>
            </a:r>
          </a:p>
          <a:p>
            <a:pPr marL="285750" indent="-285750" eaLnBrk="0" fontAlgn="base" hangingPunct="0">
              <a:buFont typeface="Wingdings" panose="05000000000000000000" pitchFamily="2" charset="2"/>
              <a:buChar char="q"/>
            </a:pPr>
            <a:r>
              <a:rPr lang="en-US" dirty="0"/>
              <a:t>Parallelization </a:t>
            </a:r>
          </a:p>
          <a:p>
            <a:pPr lvl="1" eaLnBrk="0" fontAlgn="base" hangingPunct="0"/>
            <a:r>
              <a:rPr lang="en-US" dirty="0"/>
              <a:t>Distributed and </a:t>
            </a:r>
            <a:r>
              <a:rPr lang="en-US" dirty="0" err="1"/>
              <a:t>ClusterManagers</a:t>
            </a:r>
            <a:r>
              <a:rPr lang="en-US" dirty="0"/>
              <a:t> for PBS integration</a:t>
            </a:r>
          </a:p>
          <a:p>
            <a:pPr lvl="1" eaLnBrk="0" fontAlgn="base" hangingPunct="0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C0E9B-F8B6-9A12-C63B-B87D8566856B}"/>
              </a:ext>
            </a:extLst>
          </p:cNvPr>
          <p:cNvSpPr txBox="1"/>
          <p:nvPr/>
        </p:nvSpPr>
        <p:spPr>
          <a:xfrm>
            <a:off x="-318635" y="2216023"/>
            <a:ext cx="104085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sz="2000" b="1" dirty="0"/>
              <a:t>Deadlines	</a:t>
            </a:r>
          </a:p>
          <a:p>
            <a:pPr lvl="2"/>
            <a:endParaRPr lang="en-US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ABA6C0-7891-067E-4516-A4273E29A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16" y="3266402"/>
            <a:ext cx="5413769" cy="33385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352C05E-C973-43BA-6989-4142488AF353}"/>
              </a:ext>
            </a:extLst>
          </p:cNvPr>
          <p:cNvSpPr txBox="1"/>
          <p:nvPr/>
        </p:nvSpPr>
        <p:spPr>
          <a:xfrm>
            <a:off x="-111514" y="2800514"/>
            <a:ext cx="104085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/>
            <a:r>
              <a:rPr lang="en-US" b="1" dirty="0"/>
              <a:t>IFAC	</a:t>
            </a:r>
          </a:p>
          <a:p>
            <a:pPr lvl="2"/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70392D-439A-D1EF-CDF1-EAAA1CDF4522}"/>
              </a:ext>
            </a:extLst>
          </p:cNvPr>
          <p:cNvSpPr txBox="1"/>
          <p:nvPr/>
        </p:nvSpPr>
        <p:spPr>
          <a:xfrm>
            <a:off x="5661956" y="2865698"/>
            <a:ext cx="63042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b="1" dirty="0"/>
              <a:t>ESCAPE36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/>
              <a:t>19 Oct Abstract submission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/>
              <a:t>02 Feb Paper submission  </a:t>
            </a:r>
          </a:p>
        </p:txBody>
      </p:sp>
    </p:spTree>
    <p:extLst>
      <p:ext uri="{BB962C8B-B14F-4D97-AF65-F5344CB8AC3E}">
        <p14:creationId xmlns:p14="http://schemas.microsoft.com/office/powerpoint/2010/main" val="4197032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431</TotalTime>
  <Words>188</Words>
  <Application>Microsoft Office PowerPoint</Application>
  <PresentationFormat>Widescreen</PresentationFormat>
  <Paragraphs>44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Pourjam, Rasa</dc:creator>
  <cp:lastModifiedBy>Pourjam, Rasa</cp:lastModifiedBy>
  <cp:revision>11</cp:revision>
  <dcterms:created xsi:type="dcterms:W3CDTF">2025-10-02T19:56:12Z</dcterms:created>
  <dcterms:modified xsi:type="dcterms:W3CDTF">2025-10-09T15:45:26Z</dcterms:modified>
</cp:coreProperties>
</file>